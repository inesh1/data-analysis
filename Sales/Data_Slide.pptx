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85" d="100"/>
          <a:sy n="85" d="100"/>
        </p:scale>
        <p:origin x="499" y="6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Downloads\Campaign_Data_Week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p\Downloads\Campaign_Data_Week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p\Downloads\Campaign_Data_Week1.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[Campaign_Data_Week1.xlsx]Sheet1!PivotTable1</c:name>
    <c:fmtId val="9"/>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s>
    <c:plotArea>
      <c:layout/>
      <c:pieChart>
        <c:varyColors val="1"/>
        <c:ser>
          <c:idx val="0"/>
          <c:order val="0"/>
          <c:tx>
            <c:strRef>
              <c:f>Sheet1!$B$3:$B$4</c:f>
              <c:strCache>
                <c:ptCount val="1"/>
                <c:pt idx="0">
                  <c:v>A</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3B0-4816-B869-327FFF3E129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3B0-4816-B869-327FFF3E129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33B0-4816-B869-327FFF3E1299}"/>
              </c:ext>
            </c:extLst>
          </c:dPt>
          <c:cat>
            <c:strRef>
              <c:f>Sheet1!$A$5:$A$8</c:f>
              <c:strCache>
                <c:ptCount val="3"/>
                <c:pt idx="0">
                  <c:v>Email</c:v>
                </c:pt>
                <c:pt idx="1">
                  <c:v>Instagram</c:v>
                </c:pt>
                <c:pt idx="2">
                  <c:v>Web Banner</c:v>
                </c:pt>
              </c:strCache>
            </c:strRef>
          </c:cat>
          <c:val>
            <c:numRef>
              <c:f>Sheet1!$B$5:$B$8</c:f>
              <c:numCache>
                <c:formatCode>General</c:formatCode>
                <c:ptCount val="3"/>
                <c:pt idx="0">
                  <c:v>2124.4700000000003</c:v>
                </c:pt>
                <c:pt idx="1">
                  <c:v>969.46</c:v>
                </c:pt>
                <c:pt idx="2">
                  <c:v>633.06000000000006</c:v>
                </c:pt>
              </c:numCache>
            </c:numRef>
          </c:val>
          <c:extLst>
            <c:ext xmlns:c16="http://schemas.microsoft.com/office/drawing/2014/chart" uri="{C3380CC4-5D6E-409C-BE32-E72D297353CC}">
              <c16:uniqueId val="{00000006-33B0-4816-B869-327FFF3E1299}"/>
            </c:ext>
          </c:extLst>
        </c:ser>
        <c:ser>
          <c:idx val="1"/>
          <c:order val="1"/>
          <c:tx>
            <c:strRef>
              <c:f>Sheet1!$C$3:$C$4</c:f>
              <c:strCache>
                <c:ptCount val="1"/>
                <c:pt idx="0">
                  <c:v>B</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8-33B0-4816-B869-327FFF3E129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A-33B0-4816-B869-327FFF3E129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C-33B0-4816-B869-327FFF3E1299}"/>
              </c:ext>
            </c:extLst>
          </c:dPt>
          <c:cat>
            <c:strRef>
              <c:f>Sheet1!$A$5:$A$8</c:f>
              <c:strCache>
                <c:ptCount val="3"/>
                <c:pt idx="0">
                  <c:v>Email</c:v>
                </c:pt>
                <c:pt idx="1">
                  <c:v>Instagram</c:v>
                </c:pt>
                <c:pt idx="2">
                  <c:v>Web Banner</c:v>
                </c:pt>
              </c:strCache>
            </c:strRef>
          </c:cat>
          <c:val>
            <c:numRef>
              <c:f>Sheet1!$C$5:$C$8</c:f>
              <c:numCache>
                <c:formatCode>General</c:formatCode>
                <c:ptCount val="3"/>
                <c:pt idx="0">
                  <c:v>1382.3799999999999</c:v>
                </c:pt>
                <c:pt idx="1">
                  <c:v>416.14</c:v>
                </c:pt>
                <c:pt idx="2">
                  <c:v>318.92000000000007</c:v>
                </c:pt>
              </c:numCache>
            </c:numRef>
          </c:val>
          <c:extLst>
            <c:ext xmlns:c16="http://schemas.microsoft.com/office/drawing/2014/chart" uri="{C3380CC4-5D6E-409C-BE32-E72D297353CC}">
              <c16:uniqueId val="{0000000D-33B0-4816-B869-327FFF3E1299}"/>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[Campaign_Data_Week1.xlsx]Sheet4!PivotTable2</c:name>
    <c:fmtId val="4"/>
  </c:pivotSource>
  <c:chart>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5927872763880013"/>
          <c:y val="9.1954022988505746E-2"/>
          <c:w val="0.68827259992522938"/>
          <c:h val="0.80699294053760517"/>
        </c:manualLayout>
      </c:layout>
      <c:lineChart>
        <c:grouping val="standard"/>
        <c:varyColors val="0"/>
        <c:ser>
          <c:idx val="0"/>
          <c:order val="0"/>
          <c:tx>
            <c:strRef>
              <c:f>Sheet4!$B$3:$B$4</c:f>
              <c:strCache>
                <c:ptCount val="1"/>
                <c:pt idx="0">
                  <c:v>A</c:v>
                </c:pt>
              </c:strCache>
            </c:strRef>
          </c:tx>
          <c:spPr>
            <a:ln w="28575" cap="rnd">
              <a:solidFill>
                <a:schemeClr val="accent1"/>
              </a:solidFill>
              <a:round/>
            </a:ln>
            <a:effectLst/>
          </c:spPr>
          <c:marker>
            <c:symbol val="none"/>
          </c:marker>
          <c:cat>
            <c:strRef>
              <c:f>Sheet4!$A$5:$A$8</c:f>
              <c:strCache>
                <c:ptCount val="3"/>
                <c:pt idx="0">
                  <c:v>Email</c:v>
                </c:pt>
                <c:pt idx="1">
                  <c:v>Instagram</c:v>
                </c:pt>
                <c:pt idx="2">
                  <c:v>Web Banner</c:v>
                </c:pt>
              </c:strCache>
            </c:strRef>
          </c:cat>
          <c:val>
            <c:numRef>
              <c:f>Sheet4!$B$5:$B$8</c:f>
              <c:numCache>
                <c:formatCode>General</c:formatCode>
                <c:ptCount val="3"/>
                <c:pt idx="0">
                  <c:v>29</c:v>
                </c:pt>
                <c:pt idx="1">
                  <c:v>16</c:v>
                </c:pt>
                <c:pt idx="2">
                  <c:v>14</c:v>
                </c:pt>
              </c:numCache>
            </c:numRef>
          </c:val>
          <c:smooth val="0"/>
          <c:extLst>
            <c:ext xmlns:c16="http://schemas.microsoft.com/office/drawing/2014/chart" uri="{C3380CC4-5D6E-409C-BE32-E72D297353CC}">
              <c16:uniqueId val="{00000000-71F4-4BD9-A2ED-C28C571C75D6}"/>
            </c:ext>
          </c:extLst>
        </c:ser>
        <c:ser>
          <c:idx val="1"/>
          <c:order val="1"/>
          <c:tx>
            <c:strRef>
              <c:f>Sheet4!$C$3:$C$4</c:f>
              <c:strCache>
                <c:ptCount val="1"/>
                <c:pt idx="0">
                  <c:v>B</c:v>
                </c:pt>
              </c:strCache>
            </c:strRef>
          </c:tx>
          <c:spPr>
            <a:ln w="28575" cap="rnd">
              <a:solidFill>
                <a:schemeClr val="accent2"/>
              </a:solidFill>
              <a:round/>
            </a:ln>
            <a:effectLst/>
          </c:spPr>
          <c:marker>
            <c:symbol val="none"/>
          </c:marker>
          <c:cat>
            <c:strRef>
              <c:f>Sheet4!$A$5:$A$8</c:f>
              <c:strCache>
                <c:ptCount val="3"/>
                <c:pt idx="0">
                  <c:v>Email</c:v>
                </c:pt>
                <c:pt idx="1">
                  <c:v>Instagram</c:v>
                </c:pt>
                <c:pt idx="2">
                  <c:v>Web Banner</c:v>
                </c:pt>
              </c:strCache>
            </c:strRef>
          </c:cat>
          <c:val>
            <c:numRef>
              <c:f>Sheet4!$C$5:$C$8</c:f>
              <c:numCache>
                <c:formatCode>General</c:formatCode>
                <c:ptCount val="3"/>
                <c:pt idx="0">
                  <c:v>20</c:v>
                </c:pt>
                <c:pt idx="1">
                  <c:v>7</c:v>
                </c:pt>
                <c:pt idx="2">
                  <c:v>7</c:v>
                </c:pt>
              </c:numCache>
            </c:numRef>
          </c:val>
          <c:smooth val="0"/>
          <c:extLst>
            <c:ext xmlns:c16="http://schemas.microsoft.com/office/drawing/2014/chart" uri="{C3380CC4-5D6E-409C-BE32-E72D297353CC}">
              <c16:uniqueId val="{00000001-71F4-4BD9-A2ED-C28C571C75D6}"/>
            </c:ext>
          </c:extLst>
        </c:ser>
        <c:dLbls>
          <c:showLegendKey val="0"/>
          <c:showVal val="0"/>
          <c:showCatName val="0"/>
          <c:showSerName val="0"/>
          <c:showPercent val="0"/>
          <c:showBubbleSize val="0"/>
        </c:dLbls>
        <c:smooth val="0"/>
        <c:axId val="934147967"/>
        <c:axId val="934158527"/>
      </c:lineChart>
      <c:catAx>
        <c:axId val="9341479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4158527"/>
        <c:crosses val="autoZero"/>
        <c:auto val="1"/>
        <c:lblAlgn val="ctr"/>
        <c:lblOffset val="100"/>
        <c:noMultiLvlLbl val="0"/>
      </c:catAx>
      <c:valAx>
        <c:axId val="9341585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414796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[Campaign_Data_Week1.xlsx]Sheet2!PivotTable2</c:name>
    <c:fmtId val="9"/>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Sheet2!$B$3:$B$4</c:f>
              <c:strCache>
                <c:ptCount val="1"/>
                <c:pt idx="0">
                  <c:v>Email</c:v>
                </c:pt>
              </c:strCache>
            </c:strRef>
          </c:tx>
          <c:spPr>
            <a:solidFill>
              <a:schemeClr val="accent1"/>
            </a:solidFill>
            <a:ln>
              <a:noFill/>
            </a:ln>
            <a:effectLst/>
          </c:spPr>
          <c:invertIfNegative val="0"/>
          <c:cat>
            <c:strRef>
              <c:f>Sheet2!$A$5:$A$7</c:f>
              <c:strCache>
                <c:ptCount val="2"/>
                <c:pt idx="0">
                  <c:v>A</c:v>
                </c:pt>
                <c:pt idx="1">
                  <c:v>B</c:v>
                </c:pt>
              </c:strCache>
            </c:strRef>
          </c:cat>
          <c:val>
            <c:numRef>
              <c:f>Sheet2!$B$5:$B$7</c:f>
              <c:numCache>
                <c:formatCode>General</c:formatCode>
                <c:ptCount val="2"/>
                <c:pt idx="0">
                  <c:v>94.990425531914923</c:v>
                </c:pt>
                <c:pt idx="1">
                  <c:v>90.342258064516145</c:v>
                </c:pt>
              </c:numCache>
            </c:numRef>
          </c:val>
          <c:extLst>
            <c:ext xmlns:c16="http://schemas.microsoft.com/office/drawing/2014/chart" uri="{C3380CC4-5D6E-409C-BE32-E72D297353CC}">
              <c16:uniqueId val="{00000000-6736-406A-8F17-734D606B7C0A}"/>
            </c:ext>
          </c:extLst>
        </c:ser>
        <c:ser>
          <c:idx val="1"/>
          <c:order val="1"/>
          <c:tx>
            <c:strRef>
              <c:f>Sheet2!$C$3:$C$4</c:f>
              <c:strCache>
                <c:ptCount val="1"/>
                <c:pt idx="0">
                  <c:v>Instagram</c:v>
                </c:pt>
              </c:strCache>
            </c:strRef>
          </c:tx>
          <c:spPr>
            <a:solidFill>
              <a:schemeClr val="accent2"/>
            </a:solidFill>
            <a:ln>
              <a:noFill/>
            </a:ln>
            <a:effectLst/>
          </c:spPr>
          <c:invertIfNegative val="0"/>
          <c:cat>
            <c:strRef>
              <c:f>Sheet2!$A$5:$A$7</c:f>
              <c:strCache>
                <c:ptCount val="2"/>
                <c:pt idx="0">
                  <c:v>A</c:v>
                </c:pt>
                <c:pt idx="1">
                  <c:v>B</c:v>
                </c:pt>
              </c:strCache>
            </c:strRef>
          </c:cat>
          <c:val>
            <c:numRef>
              <c:f>Sheet2!$C$5:$C$7</c:f>
              <c:numCache>
                <c:formatCode>General</c:formatCode>
                <c:ptCount val="2"/>
                <c:pt idx="0">
                  <c:v>60.147291666666668</c:v>
                </c:pt>
                <c:pt idx="1">
                  <c:v>51.438500000000012</c:v>
                </c:pt>
              </c:numCache>
            </c:numRef>
          </c:val>
          <c:extLst>
            <c:ext xmlns:c16="http://schemas.microsoft.com/office/drawing/2014/chart" uri="{C3380CC4-5D6E-409C-BE32-E72D297353CC}">
              <c16:uniqueId val="{00000001-6736-406A-8F17-734D606B7C0A}"/>
            </c:ext>
          </c:extLst>
        </c:ser>
        <c:ser>
          <c:idx val="2"/>
          <c:order val="2"/>
          <c:tx>
            <c:strRef>
              <c:f>Sheet2!$D$3:$D$4</c:f>
              <c:strCache>
                <c:ptCount val="1"/>
                <c:pt idx="0">
                  <c:v>Web Banner</c:v>
                </c:pt>
              </c:strCache>
            </c:strRef>
          </c:tx>
          <c:spPr>
            <a:solidFill>
              <a:schemeClr val="accent3"/>
            </a:solidFill>
            <a:ln>
              <a:noFill/>
            </a:ln>
            <a:effectLst/>
          </c:spPr>
          <c:invertIfNegative val="0"/>
          <c:cat>
            <c:strRef>
              <c:f>Sheet2!$A$5:$A$7</c:f>
              <c:strCache>
                <c:ptCount val="2"/>
                <c:pt idx="0">
                  <c:v>A</c:v>
                </c:pt>
                <c:pt idx="1">
                  <c:v>B</c:v>
                </c:pt>
              </c:strCache>
            </c:strRef>
          </c:cat>
          <c:val>
            <c:numRef>
              <c:f>Sheet2!$D$5:$D$7</c:f>
              <c:numCache>
                <c:formatCode>General</c:formatCode>
                <c:ptCount val="2"/>
                <c:pt idx="0">
                  <c:v>58.693488372093007</c:v>
                </c:pt>
                <c:pt idx="1">
                  <c:v>65.658749999999984</c:v>
                </c:pt>
              </c:numCache>
            </c:numRef>
          </c:val>
          <c:extLst>
            <c:ext xmlns:c16="http://schemas.microsoft.com/office/drawing/2014/chart" uri="{C3380CC4-5D6E-409C-BE32-E72D297353CC}">
              <c16:uniqueId val="{00000002-6736-406A-8F17-734D606B7C0A}"/>
            </c:ext>
          </c:extLst>
        </c:ser>
        <c:dLbls>
          <c:showLegendKey val="0"/>
          <c:showVal val="0"/>
          <c:showCatName val="0"/>
          <c:showSerName val="0"/>
          <c:showPercent val="0"/>
          <c:showBubbleSize val="0"/>
        </c:dLbls>
        <c:gapWidth val="219"/>
        <c:overlap val="-27"/>
        <c:axId val="1036512367"/>
        <c:axId val="1036512847"/>
      </c:barChart>
      <c:catAx>
        <c:axId val="10365123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6512847"/>
        <c:crosses val="autoZero"/>
        <c:auto val="1"/>
        <c:lblAlgn val="ctr"/>
        <c:lblOffset val="100"/>
        <c:noMultiLvlLbl val="0"/>
      </c:catAx>
      <c:valAx>
        <c:axId val="10365128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651236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6/25/2026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6/25/2026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chart" Target="../charts/chart3.xml"/><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lstStyle/>
          <a:p>
            <a:r>
              <a:rPr lang="en-US" sz="2800" dirty="0"/>
              <a:t>Channel and campaign to focus on</a:t>
            </a:r>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4"/>
            <a:ext cx="10921529" cy="105447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a:t>
            </a:r>
          </a:p>
          <a:p>
            <a:r>
              <a:rPr lang="en-US" sz="1600" b="1" dirty="0">
                <a:solidFill>
                  <a:srgbClr val="000000"/>
                </a:solidFill>
              </a:rPr>
              <a:t>	</a:t>
            </a:r>
            <a:r>
              <a:rPr lang="en-US" sz="1600" dirty="0">
                <a:solidFill>
                  <a:srgbClr val="000000"/>
                </a:solidFill>
              </a:rPr>
              <a:t>From this we can say that email is being most effective in terms of sales, time spend by user and this is the channel most effective for the users and adding to it the campaign A shows much more increase in user engagement and making it much more exclusive to users.</a:t>
            </a:r>
            <a:endParaRPr lang="en-US" sz="1200" dirty="0">
              <a:solidFill>
                <a:srgbClr val="000000"/>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838228" y="1696609"/>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Most effective channel in terms of sales</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306799" y="1719502"/>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Converted by each channel and campaign</a:t>
            </a:r>
          </a:p>
        </p:txBody>
      </p:sp>
      <p:sp>
        <p:nvSpPr>
          <p:cNvPr id="54" name="Rectangle 53">
            <a:extLst>
              <a:ext uri="{FF2B5EF4-FFF2-40B4-BE49-F238E27FC236}">
                <a16:creationId xmlns:a16="http://schemas.microsoft.com/office/drawing/2014/main" id="{AC2F7AF7-DC76-6C1A-0458-2264EDF24BF9}"/>
              </a:ext>
            </a:extLst>
          </p:cNvPr>
          <p:cNvSpPr/>
          <p:nvPr/>
        </p:nvSpPr>
        <p:spPr>
          <a:xfrm>
            <a:off x="7622972" y="1715577"/>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Overall time spend by users</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7" name="Chart 6">
            <a:extLst>
              <a:ext uri="{FF2B5EF4-FFF2-40B4-BE49-F238E27FC236}">
                <a16:creationId xmlns:a16="http://schemas.microsoft.com/office/drawing/2014/main" id="{CC21CA9F-195F-73EE-32FA-64725EDA4284}"/>
              </a:ext>
            </a:extLst>
          </p:cNvPr>
          <p:cNvGraphicFramePr>
            <a:graphicFrameLocks/>
          </p:cNvGraphicFramePr>
          <p:nvPr>
            <p:extLst>
              <p:ext uri="{D42A27DB-BD31-4B8C-83A1-F6EECF244321}">
                <p14:modId xmlns:p14="http://schemas.microsoft.com/office/powerpoint/2010/main" val="2943904268"/>
              </p:ext>
            </p:extLst>
          </p:nvPr>
        </p:nvGraphicFramePr>
        <p:xfrm>
          <a:off x="944368" y="1992576"/>
          <a:ext cx="2581166" cy="274320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9" name="Chart 8">
            <a:extLst>
              <a:ext uri="{FF2B5EF4-FFF2-40B4-BE49-F238E27FC236}">
                <a16:creationId xmlns:a16="http://schemas.microsoft.com/office/drawing/2014/main" id="{6617E5ED-E7E0-0B26-3A35-4F1B11EF877D}"/>
              </a:ext>
            </a:extLst>
          </p:cNvPr>
          <p:cNvGraphicFramePr>
            <a:graphicFrameLocks/>
          </p:cNvGraphicFramePr>
          <p:nvPr>
            <p:extLst>
              <p:ext uri="{D42A27DB-BD31-4B8C-83A1-F6EECF244321}">
                <p14:modId xmlns:p14="http://schemas.microsoft.com/office/powerpoint/2010/main" val="540263176"/>
              </p:ext>
            </p:extLst>
          </p:nvPr>
        </p:nvGraphicFramePr>
        <p:xfrm>
          <a:off x="3882584" y="2155067"/>
          <a:ext cx="3108174" cy="220980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0" name="Chart 9">
            <a:extLst>
              <a:ext uri="{FF2B5EF4-FFF2-40B4-BE49-F238E27FC236}">
                <a16:creationId xmlns:a16="http://schemas.microsoft.com/office/drawing/2014/main" id="{98BF75A3-FD42-0847-1157-65E18931963B}"/>
              </a:ext>
            </a:extLst>
          </p:cNvPr>
          <p:cNvGraphicFramePr>
            <a:graphicFrameLocks/>
          </p:cNvGraphicFramePr>
          <p:nvPr>
            <p:extLst>
              <p:ext uri="{D42A27DB-BD31-4B8C-83A1-F6EECF244321}">
                <p14:modId xmlns:p14="http://schemas.microsoft.com/office/powerpoint/2010/main" val="1852938981"/>
              </p:ext>
            </p:extLst>
          </p:nvPr>
        </p:nvGraphicFramePr>
        <p:xfrm>
          <a:off x="7476125" y="2325396"/>
          <a:ext cx="2765417" cy="1879051"/>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122</TotalTime>
  <Words>80</Words>
  <Application>Microsoft Office PowerPoint</Application>
  <PresentationFormat>Widescreen</PresentationFormat>
  <Paragraphs>6</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Channel and campaign to focus on</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Inesh Negi</cp:lastModifiedBy>
  <cp:revision>9</cp:revision>
  <cp:lastPrinted>2016-04-06T18:59:25Z</cp:lastPrinted>
  <dcterms:created xsi:type="dcterms:W3CDTF">2025-04-28T17:07:03Z</dcterms:created>
  <dcterms:modified xsi:type="dcterms:W3CDTF">2026-06-25T15:09:18Z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